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media/image16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79" r:id="rId33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B49"/>
    <a:srgbClr val="E76F39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3" autoAdjust="0"/>
    <p:restoredTop sz="91480" autoAdjust="0"/>
  </p:normalViewPr>
  <p:slideViewPr>
    <p:cSldViewPr snapToGrid="0">
      <p:cViewPr varScale="1">
        <p:scale>
          <a:sx n="71" d="100"/>
          <a:sy n="71" d="100"/>
        </p:scale>
        <p:origin x="43" y="202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notesMaster" Target="notesMasters/notesMaster1.xml"/><Relationship Id="rId26" Type="http://schemas.openxmlformats.org/officeDocument/2006/relationships/tags" Target="tags/tag1.xml"/><Relationship Id="rId27" Type="http://schemas.openxmlformats.org/officeDocument/2006/relationships/commentAuthors" Target="commentAuthors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8/10/relationships/authors" Target="authors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15" name="Watermark"/>
          <p:cNvSpPr txBox="1"/>
          <p:nvPr/>
        </p:nvSpPr>
        <p:spPr>
          <a:xfrm>
            <a:off x="256032" y="6446520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A8A8A8"/>
                </a:solidFill>
              </a:rPr>
              <a:t>Pablo Fiterman · IBM Data Analyst Capstone · September 1, 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Watermark"/>
          <p:cNvSpPr txBox="1"/>
          <p:nvPr/>
        </p:nvSpPr>
        <p:spPr>
          <a:xfrm>
            <a:off x="256032" y="6446520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A8A8A8"/>
                </a:solidFill>
              </a:rPr>
              <a:t>Pablo Fiterman · IBM Data Analyst Capstone · September 1, 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Watermark"/>
          <p:cNvSpPr txBox="1"/>
          <p:nvPr/>
        </p:nvSpPr>
        <p:spPr>
          <a:xfrm>
            <a:off x="256032" y="6446520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A8A8A8"/>
                </a:solidFill>
              </a:rPr>
              <a:t>Pablo Fiterman · IBM Data Analyst Capstone · September 1, 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256032" y="6446520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A8A8A8"/>
                </a:solidFill>
              </a:rPr>
              <a:t>Pablo Fiterman · IBM Data Analyst Capstone · September 1, 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256032" y="6446520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A8A8A8"/>
                </a:solidFill>
              </a:rPr>
              <a:t>Pablo Fiterman · IBM Data Analyst Capstone · September 1, 2026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256032" y="6446520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A8A8A8"/>
                </a:solidFill>
              </a:rPr>
              <a:t>Pablo Fiterman · IBM Data Analyst Capstone · September 1, 2026</a:t>
            </a:r>
          </a:p>
        </p:txBody>
      </p:sp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image" Target="../media/image1.png"/><Relationship Id="rId10" Type="http://schemas.microsoft.com/office/2007/relationships/hdphoto" Target="../media/hdphoto1.wdp"/><Relationship Id="rId11" Type="http://schemas.openxmlformats.org/officeDocument/2006/relationships/image" Target="../media/image2.png"/><Relationship Id="rId12" Type="http://schemas.openxmlformats.org/officeDocument/2006/relationships/image" Target="../media/image3.svg"/><Relationship Id="rId13" Type="http://schemas.openxmlformats.org/officeDocument/2006/relationships/image" Target="../media/image4.png"/><Relationship Id="rId14" Type="http://schemas.openxmlformats.org/officeDocument/2006/relationships/image" Target="../media/image5.svg"/><Relationship Id="rId15" Type="http://schemas.openxmlformats.org/officeDocument/2006/relationships/image" Target="../media/image6.png"/><Relationship Id="rId16" Type="http://schemas.openxmlformats.org/officeDocument/2006/relationships/image" Target="../media/image7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Watermark"/>
          <p:cNvSpPr txBox="1"/>
          <p:nvPr/>
        </p:nvSpPr>
        <p:spPr>
          <a:xfrm>
            <a:off x="256032" y="6446520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A8A8A8"/>
                </a:solidFill>
              </a:rPr>
              <a:t>Pablo Fiterman · IBM Data Analyst Capstone · September 1, 2026</a:t>
            </a:r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4" Type="http://schemas.openxmlformats.org/officeDocument/2006/relationships/customXml" Target="../ink/ink1.xml"/><Relationship Id="rId5" Type="http://schemas.openxmlformats.org/officeDocument/2006/relationships/image" Target="../media/image10.png"/><Relationship Id="rId6" Type="http://schemas.openxmlformats.org/officeDocument/2006/relationships/customXml" Target="../ink/ink2.xml"/><Relationship Id="rId7" Type="http://schemas.openxmlformats.org/officeDocument/2006/relationships/customXml" Target="../ink/ink3.xml"/><Relationship Id="rId8" Type="http://schemas.openxmlformats.org/officeDocument/2006/relationships/customXml" Target="../ink/ink4.xml"/><Relationship Id="rId9" Type="http://schemas.openxmlformats.org/officeDocument/2006/relationships/image" Target="../media/image11.png"/><Relationship Id="rId10" Type="http://schemas.openxmlformats.org/officeDocument/2006/relationships/customXml" Target="../ink/ink5.xml"/><Relationship Id="rId11" Type="http://schemas.openxmlformats.org/officeDocument/2006/relationships/customXml" Target="../ink/ink6.xml"/><Relationship Id="rId12" Type="http://schemas.openxmlformats.org/officeDocument/2006/relationships/customXml" Target="../ink/ink7.xml"/><Relationship Id="rId13" Type="http://schemas.openxmlformats.org/officeDocument/2006/relationships/customXml" Target="../ink/ink8.xml"/><Relationship Id="rId14" Type="http://schemas.openxmlformats.org/officeDocument/2006/relationships/customXml" Target="../ink/ink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7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8.png"/><Relationship Id="rId4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pPr/>
            <a:r>
              <a:rPr lang="en-US" dirty="0"/>
              <a:t>DATA ANALYST 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ext cx="4709160" cy="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z="2000" b="1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Emerging Technology Trends in the Developer Job Market</a:t>
            </a:r>
          </a:p>
          <a:p>
            <a:pPr marL="0" indent="0">
              <a:buNone/>
            </a:pPr>
            <a:r>
              <a:rPr lang="en-US" dirty="0" sz="1500" b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/>
            </a:r>
          </a:p>
          <a:p>
            <a:pPr marL="0" indent="0">
              <a:buNone/>
            </a:pPr>
            <a:r>
              <a:rPr lang="en-US" dirty="0" sz="1500" b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Pablo Fiterman</a:t>
            </a:r>
          </a:p>
          <a:p>
            <a:pPr marL="0" indent="0">
              <a:buNone/>
            </a:pPr>
            <a:r>
              <a:rPr lang="en-US" dirty="0" sz="1500" b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September 1, 2026</a:t>
            </a:r>
          </a:p>
          <a:p>
            <a:pPr marL="0" indent="0">
              <a:buNone/>
            </a:pPr>
            <a:r>
              <a:rPr lang="en-US" dirty="0" sz="1500" b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/>
            </a:r>
          </a:p>
          <a:p>
            <a:pPr marL="0" indent="0">
              <a:buNone/>
            </a:pPr>
            <a:r>
              <a:rPr lang="en-US" dirty="0" sz="1500" b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IBM Data Analyst Professional Certificate</a:t>
            </a:r>
          </a:p>
          <a:p>
            <a:pPr marL="0" indent="0">
              <a:buNone/>
            </a:pPr>
            <a:r>
              <a:rPr lang="en-US" dirty="0" sz="1500" b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Stack Overflow Developer Survey · Jobs API · Web-scraped salary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sz="1700" dirty="0"/>
              <a:t>Executive Summary</a:t>
            </a:r>
          </a:p>
          <a:p>
            <a:pPr/>
            <a:r>
              <a:rPr lang="en-US" sz="1700" dirty="0"/>
              <a:t>Introduction</a:t>
            </a:r>
          </a:p>
          <a:p>
            <a:pPr/>
            <a:r>
              <a:rPr lang="en-US" sz="1700" dirty="0"/>
              <a:t>Methodology</a:t>
            </a:r>
          </a:p>
          <a:p>
            <a:pPr/>
            <a:r>
              <a:rPr lang="en-US" sz="1700" dirty="0"/>
              <a:t>Results — job market, languages, databases</a:t>
            </a:r>
          </a:p>
          <a:p>
            <a:pPr/>
            <a:r>
              <a:rPr lang="en-US" sz="1700" dirty="0"/>
              <a:t>Dashboard — current usage, future trends, demographics</a:t>
            </a:r>
          </a:p>
          <a:p>
            <a:pPr/>
            <a:r>
              <a:rPr lang="en-US" sz="1700" dirty="0"/>
              <a:t>Discussion</a:t>
            </a:r>
          </a:p>
          <a:p>
            <a:pPr/>
            <a:r>
              <a:rPr lang="en-US" sz="1700" dirty="0"/>
              <a:t>Findings &amp; Implications</a:t>
            </a:r>
          </a:p>
          <a:p>
            <a:pPr/>
            <a:r>
              <a:rPr lang="en-US" sz="1700" dirty="0"/>
              <a:t>Conclusion</a:t>
            </a:r>
          </a:p>
          <a:p>
            <a:pPr/>
            <a:r>
              <a:rPr lang="en-US" sz="17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389349" y="1630528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/>
              <a:t>Three data sources were combined to read the developer job market: 18,845 Stack Overflow survey responses, 27,005 job postings from a Jobs API and scraped salary data for 10 languages.</a:t>
            </a:r>
          </a:p>
          <a:p>
            <a:pPr marL="0" indent="0">
              <a:buNone/>
            </a:pPr>
            <a:r>
              <a:rPr lang="en-US" sz="1300" dirty="0"/>
              <a:t>Demand is concentrated. Three metro areas hold 46.8% of all postings, led by Washington DC with 5,316.</a:t>
            </a:r>
          </a:p>
          <a:p>
            <a:pPr marL="0" indent="0">
              <a:buNone/>
            </a:pPr>
            <a:r>
              <a:rPr lang="en-US" sz="1300" dirty="0"/>
              <a:t>The current stack is stable: JavaScript, SQL and HTML/CSS lead usage, PostgreSQL leads databases, AWS leads platforms.</a:t>
            </a:r>
          </a:p>
          <a:p>
            <a:pPr marL="0" indent="0">
              <a:buNone/>
            </a:pPr>
            <a:r>
              <a:rPr lang="en-US" sz="1300" dirty="0"/>
              <a:t>Intent diverges from usage. Rust (+3.3 pp) and Go (+2.5 pp) gain the most mind-share for next year; JavaScript, PHP and Java lose the most, while still leading in absolute terms.</a:t>
            </a:r>
          </a:p>
          <a:p>
            <a:pPr marL="0" indent="0">
              <a:buNone/>
            </a:pPr>
            <a:r>
              <a:rPr lang="en-US" sz="1300" dirty="0"/>
              <a:t>PostgreSQL is the only database in the current top five that grows in absolute terms (11,514 to 12,193); Redis gains from sixth place.</a:t>
            </a:r>
          </a:p>
          <a:p>
            <a:pPr marL="0" indent="0">
              <a:buNone/>
            </a:pPr>
            <a:r>
              <a:rPr lang="en-US" sz="1300" dirty="0"/>
              <a:t>Pay follows scarcity, not popularity: Swift tops the salary table at $130,801 while the most-used languages sit mid-table.</a:t>
            </a:r>
          </a:p>
          <a:p>
            <a:pPr marL="0" indent="0">
              <a:buNone/>
            </a:pPr>
            <a:r>
              <a:rPr lang="en-US" sz="1300" dirty="0"/>
              <a:t>Compensation correlates only weakly with experience (r = 0.242) and barely at all with satisfaction (r = 0.06); country explains far more.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" y="2136507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chemeClr val="bg1">
                    <a:lumMod val="75000"/>
                  </a:schemeClr>
                </a:solidFill>
              </a:rPr>
              <a:t>Purpose, audience and value</a:t>
            </a:r>
          </a:p>
          <a:p>
            <a:pPr lvl="1"/>
            <a:r>
              <a:rPr lang="en-US" sz="1300" dirty="0">
                <a:solidFill>
                  <a:schemeClr val="tx1"/>
                </a:solidFill>
              </a:rPr>
              <a:t>Purpose — establish which technologies developers use today, which they intend to adopt next year, and where the job market pays for them.</a:t>
            </a:r>
          </a:p>
          <a:p>
            <a:pPr lvl="1"/>
            <a:r>
              <a:rPr lang="en-US" sz="1300" dirty="0">
                <a:solidFill>
                  <a:schemeClr val="tx1"/>
                </a:solidFill>
              </a:rPr>
              <a:t>Audience — hiring managers, L&amp;D leads and technology strategists planning headcount, training budgets and platform bets for the next cycle.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bg1">
                    <a:lumMod val="75000"/>
                  </a:schemeClr>
                </a:solidFill>
              </a:rPr>
              <a:t>Business questions</a:t>
            </a:r>
          </a:p>
          <a:p>
            <a:pPr lvl="1"/>
            <a:r>
              <a:rPr lang="en-US" sz="1300" dirty="0">
                <a:solidFill>
                  <a:schemeClr val="tx1"/>
                </a:solidFill>
              </a:rPr>
              <a:t>Where are the job openings, and for which skills?</a:t>
            </a:r>
          </a:p>
          <a:p>
            <a:pPr lvl="1"/>
            <a:r>
              <a:rPr lang="en-US" sz="1300" dirty="0">
                <a:solidFill>
                  <a:schemeClr val="tx1"/>
                </a:solidFill>
              </a:rPr>
              <a:t>Which languages, databases, platforms and frameworks dominate today?</a:t>
            </a:r>
          </a:p>
          <a:p>
            <a:pPr lvl="1"/>
            <a:r>
              <a:rPr lang="en-US" sz="1300" dirty="0">
                <a:solidFill>
                  <a:schemeClr val="tx1"/>
                </a:solidFill>
              </a:rPr>
              <a:t>Which are gaining or losing developer mind-share for next year?</a:t>
            </a:r>
          </a:p>
          <a:p>
            <a:pPr lvl="1"/>
            <a:r>
              <a:rPr lang="en-US" sz="1300" dirty="0">
                <a:solidFill>
                  <a:schemeClr val="tx1"/>
                </a:solidFill>
              </a:rPr>
              <a:t>Who are the developers behind these answers, and what do they earn?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bg1">
                    <a:lumMod val="75000"/>
                  </a:schemeClr>
                </a:solidFill>
              </a:rPr>
              <a:t>Value — the current-versus-desired gap is a leading indicator: it flags skills to hire for before the market reprices them.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Data sources</a:t>
            </a:r>
          </a:p>
          <a:p>
            <a:pPr lvl="1"/>
            <a:r>
              <a:rPr lang="en-US" sz="1200" dirty="0"/>
              <a:t>Jobs API (REST/JSON) — 27,005 postings across 13 US metro areas, plus counts per technology.</a:t>
            </a:r>
          </a:p>
          <a:p>
            <a:pPr lvl="1"/>
            <a:r>
              <a:rPr lang="en-US" sz="1200" dirty="0"/>
              <a:t>Web scraping (requests + BeautifulSoup) — annual average salary for 10 popular programming languages.</a:t>
            </a:r>
          </a:p>
          <a:p>
            <a:pPr lvl="1"/>
            <a:r>
              <a:rPr lang="en-US" sz="1200" dirty="0"/>
              <a:t>Stack Overflow Developer Survey — 18,845 responses, 114 columns, 161 countries.</a:t>
            </a:r>
          </a:p>
          <a:p>
            <a:pPr marL="0" indent="0">
              <a:buNone/>
            </a:pPr>
            <a:r>
              <a:rPr lang="en-US" sz="1400" dirty="0"/>
              <a:t>Data wrangling</a:t>
            </a:r>
          </a:p>
          <a:p>
            <a:pPr lvl="1"/>
            <a:r>
              <a:rPr lang="en-US" sz="1200" dirty="0"/>
              <a:t>Duplicates checked and removed; column names normalised.</a:t>
            </a:r>
          </a:p>
          <a:p>
            <a:pPr lvl="1"/>
            <a:r>
              <a:rPr lang="en-US" sz="1200" dirty="0"/>
              <a:t>Missing values treated per column: median for skewed numerics, mode for categoricals, and left blank where over half the column was absent.</a:t>
            </a:r>
          </a:p>
          <a:p>
            <a:pPr lvl="1"/>
            <a:r>
              <a:rPr lang="en-US" sz="1200" dirty="0"/>
              <a:t>Min-max scaling and a log1p transform applied to compensation.</a:t>
            </a:r>
          </a:p>
          <a:p>
            <a:pPr lvl="1"/>
            <a:r>
              <a:rPr lang="en-US" sz="1200" dirty="0"/>
              <a:t>Multi-select answers split on ';' and exploded to one row per selection.</a:t>
            </a:r>
          </a:p>
          <a:p>
            <a:pPr marL="0" indent="0">
              <a:buNone/>
            </a:pPr>
            <a:r>
              <a:rPr lang="en-US" sz="1400" dirty="0"/>
              <a:t>Analysis &amp; tools</a:t>
            </a:r>
          </a:p>
          <a:p>
            <a:pPr lvl="1"/>
            <a:r>
              <a:rPr lang="en-US" sz="1200" dirty="0"/>
              <a:t>Python (pandas, NumPy), SQLite/SQL, Matplotlib &amp; Seaborn, Google Looker Studio for the dashboard.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pPr/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1700"/>
              <a:t>Job postings by location</a:t>
            </a:r>
          </a:p>
          <a:p>
            <a:pPr marL="0" indent="0">
              <a:buNone/>
            </a:pPr>
            <a:r>
              <a:rPr sz="1700"/>
              <a:t>Popular languages by salary</a:t>
            </a:r>
          </a:p>
          <a:p>
            <a:pPr marL="0" indent="0">
              <a:buNone/>
            </a:pPr>
            <a:r>
              <a:rPr sz="1700"/>
              <a:t>Programming language trends</a:t>
            </a:r>
          </a:p>
          <a:p>
            <a:pPr marL="0" indent="0">
              <a:buNone/>
            </a:pPr>
            <a:r>
              <a:rPr sz="1700"/>
              <a:t>Database trends</a:t>
            </a:r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1D5615A7-55B9-E0F5-0A84-57A35A57B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468" y="2101175"/>
            <a:ext cx="2972979" cy="2972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D1E5C-FB56-616C-9776-6EF59DA07045}"/>
              </a:ext>
            </a:extLst>
          </p:cNvPr>
          <p:cNvSpPr txBox="1"/>
          <p:nvPr/>
        </p:nvSpPr>
        <p:spPr>
          <a:xfrm>
            <a:off x="3818965" y="3126000"/>
            <a:ext cx="7413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Font typeface="Arial"/>
              <a:buNone/>
            </a:pPr>
            <a:r>
              <a:rPr lang="en-US" sz="2000" dirty="0"/>
              <a:t>Job market · Programming languages · Databases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383051"/>
            <a:ext cx="5833456" cy="1325563"/>
          </a:xfrm>
        </p:spPr>
        <p:txBody>
          <a:bodyPr anchor="ctr">
            <a:normAutofit/>
          </a:bodyPr>
          <a:lstStyle/>
          <a:p>
            <a:pPr/>
            <a:r>
              <a:rPr lang="en-US" dirty="0"/>
              <a:t>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6629400" y="1417320"/>
            <a:ext cx="4983480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300"/>
              <a:t>27,005 Python postings across 13 metro areas</a:t>
            </a:r>
          </a:p>
          <a:p>
            <a:pPr marL="0" indent="0">
              <a:buFont typeface="Arial"/>
              <a:buNone/>
            </a:pPr>
            <a:r>
              <a:rPr lang="en-US" sz="1300"/>
              <a:t>Washington DC leads with 5,316 postings — 19.7% of the total.</a:t>
            </a:r>
          </a:p>
          <a:p>
            <a:pPr marL="0" indent="0">
              <a:buFont typeface="Arial"/>
              <a:buNone/>
            </a:pPr>
            <a:r>
              <a:rPr lang="en-US" sz="1300"/>
              <a:t>The top three metros hold 46.8% of all postings; demand is geographically concentrated rather than evenly spread.</a:t>
            </a:r>
          </a:p>
          <a:p>
            <a:pPr marL="0" indent="0">
              <a:buFont typeface="Arial"/>
              <a:buNone/>
            </a:pPr>
            <a:r>
              <a:rPr lang="en-US" sz="1300"/>
              <a:t>The tail is very thin: Philadelphia returns only 41 postings, a 130× gap to the leader.</a:t>
            </a:r>
          </a:p>
          <a:p>
            <a:pPr marL="0" indent="0">
              <a:buFont typeface="Arial"/>
              <a:buNone/>
            </a:pPr>
            <a:r>
              <a:rPr lang="en-US" sz="1300"/>
              <a:t>Read as relative demand, not absolute market size — the API returns postings indexed at collection time, not a census of open roles.</a:t>
            </a:r>
          </a:p>
        </p:txBody>
      </p:sp>
      <p:pic>
        <p:nvPicPr>
          <p:cNvPr id="11" name="Picture 10" descr="r1_job_pos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02009"/>
            <a:ext cx="5943600" cy="35111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36" y="383051"/>
            <a:ext cx="57087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6629400" y="1417320"/>
            <a:ext cx="4983480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300"/>
              <a:t>Salary rewards scarcity, not ubiquity</a:t>
            </a:r>
          </a:p>
          <a:p>
            <a:pPr marL="0" indent="0">
              <a:buFont typeface="Arial"/>
              <a:buNone/>
            </a:pPr>
            <a:r>
              <a:rPr lang="en-US" sz="1300"/>
              <a:t>Swift pays the most at $130,801, ahead of Python ($114,383) and C++.</a:t>
            </a:r>
          </a:p>
          <a:p>
            <a:pPr marL="0" indent="0">
              <a:buFont typeface="Arial"/>
              <a:buNone/>
            </a:pPr>
            <a:r>
              <a:rPr lang="en-US" sz="1300"/>
              <a:t>PHP sits last at $84,727 — a $46,074 spread across the ten languages (mean $101,540).</a:t>
            </a:r>
          </a:p>
          <a:p>
            <a:pPr marL="0" indent="0">
              <a:buFont typeface="Arial"/>
              <a:buNone/>
            </a:pPr>
            <a:r>
              <a:rPr lang="en-US" sz="1300"/>
              <a:t>The most widely used languages are not the best paid: JavaScript and SQL dominate survey usage yet sit in the lower half of this table.</a:t>
            </a:r>
          </a:p>
          <a:p>
            <a:pPr marL="0" indent="0">
              <a:buFont typeface="Arial"/>
              <a:buNone/>
            </a:pPr>
            <a:r>
              <a:rPr lang="en-US" sz="1300"/>
              <a:t>Implication — specialising in a narrower, in-demand language is better compensated than adding another mainstream one.</a:t>
            </a:r>
          </a:p>
        </p:txBody>
      </p:sp>
      <p:pic>
        <p:nvPicPr>
          <p:cNvPr id="8" name="Picture 7" descr="r2_language_sal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60577"/>
            <a:ext cx="5943600" cy="31940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4305" y="2063170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3170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C5862-9AB9-9679-23B5-A950E973AFB5}"/>
              </a:ext>
            </a:extLst>
          </p:cNvPr>
          <p:cNvSpPr txBox="1"/>
          <p:nvPr/>
        </p:nvSpPr>
        <p:spPr>
          <a:xfrm>
            <a:off x="658368" y="1207008"/>
            <a:ext cx="10881360" cy="77724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en-US" sz="1300" dirty="0"/>
              <a:t>The top five are unchanged in composition, but four of them lose share while TypeScript gains and climbs past HTML/CSS; Go and Rust break into the top ten.</a:t>
            </a:r>
          </a:p>
        </p:txBody>
      </p:sp>
      <p:pic>
        <p:nvPicPr>
          <p:cNvPr id="10" name="Picture 9" descr="r3_lang_n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73173"/>
            <a:ext cx="5349240" cy="3466133"/>
          </a:xfrm>
          <a:prstGeom prst="rect">
            <a:avLst/>
          </a:prstGeom>
        </p:spPr>
      </p:pic>
      <p:pic>
        <p:nvPicPr>
          <p:cNvPr id="11" name="Picture 10" descr="r3_lang_n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473173"/>
            <a:ext cx="5349240" cy="34661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rPr lang="en-US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z="1200"/>
              <a:t>Findings</a:t>
            </a:r>
          </a:p>
          <a:p>
            <a:pPr marL="0" indent="0">
              <a:buNone/>
            </a:pPr>
            <a:r>
              <a:rPr lang="en-US" dirty="0" sz="1200"/>
              <a:t/>
            </a:r>
          </a:p>
          <a:p>
            <a:pPr marL="0" indent="0">
              <a:buNone/>
            </a:pPr>
            <a:r>
              <a:rPr lang="en-US" dirty="0" sz="1200"/>
              <a:t>JavaScript leads both years but loses the most share of any language (-2.0 pp).</a:t>
            </a:r>
          </a:p>
          <a:p>
            <a:pPr marL="0" indent="0">
              <a:buNone/>
            </a:pPr>
            <a:r>
              <a:rPr lang="en-US" dirty="0" sz="1200"/>
              <a:t>Rust is the biggest gainer at +3.3 pp, followed by Go at +2.5 pp.</a:t>
            </a:r>
          </a:p>
          <a:p>
            <a:pPr marL="0" indent="0">
              <a:buNone/>
            </a:pPr>
            <a:r>
              <a:rPr lang="en-US" dirty="0" sz="1200"/>
              <a:t>TypeScript is the only current top-four language that gains share (+0.6 pp), overtaking HTML/CSS for next year.</a:t>
            </a:r>
          </a:p>
          <a:p>
            <a:pPr marL="0" indent="0">
              <a:buNone/>
            </a:pPr>
            <a:r>
              <a:rPr lang="en-US" dirty="0" sz="1200"/>
              <a:t>PHP (-1.4 pp) and Java (-1.3 pp) fall furthest after JavaScript.</a:t>
            </a:r>
          </a:p>
          <a:p>
            <a:pPr marL="0" indent="0">
              <a:buNone/>
            </a:pPr>
            <a:r>
              <a:rPr lang="en-US" dirty="0" sz="1200"/>
              <a:t>Respondents list fewer languages they want (5.64 on average) than they already use (6.19) — intent is narrower than practice.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z="1200"/>
              <a:t>Implications</a:t>
            </a:r>
          </a:p>
          <a:p>
            <a:pPr marL="0" indent="0">
              <a:buNone/>
            </a:pPr>
            <a:r>
              <a:rPr lang="en-US" dirty="0" sz="1200"/>
              <a:t/>
            </a:r>
          </a:p>
          <a:p>
            <a:pPr marL="0" indent="0">
              <a:buNone/>
            </a:pPr>
            <a:r>
              <a:rPr lang="en-US" dirty="0" sz="1200"/>
              <a:t>Keep hiring for the incumbents — JavaScript, SQL and TypeScript remain the baseline, and losing share is not the same as losing volume.</a:t>
            </a:r>
          </a:p>
          <a:p>
            <a:pPr marL="0" indent="0">
              <a:buNone/>
            </a:pPr>
            <a:r>
              <a:rPr lang="en-US" dirty="0" sz="1200"/>
              <a:t>Treat Rust and Go as a build-ahead investment: demand for them is being created by developer preference before the job market reprices it.</a:t>
            </a:r>
          </a:p>
          <a:p>
            <a:pPr marL="0" indent="0">
              <a:buNone/>
            </a:pPr>
            <a:r>
              <a:rPr lang="en-US" dirty="0" sz="1200"/>
              <a:t>Fund TypeScript training explicitly; it is the only mainstream language gaining share and it consolidates the JavaScript ecosystem.</a:t>
            </a:r>
          </a:p>
          <a:p>
            <a:pPr marL="0" indent="0">
              <a:buNone/>
            </a:pPr>
            <a:r>
              <a:rPr lang="en-US" dirty="0" sz="1200"/>
              <a:t>Plan PHP and Java estates as maintenance, not growth — expect a shrinking and more expensive hiring pool over time.</a:t>
            </a:r>
          </a:p>
          <a:p>
            <a:pPr marL="0" indent="0">
              <a:buNone/>
            </a:pPr>
            <a:r>
              <a:rPr lang="en-US" dirty="0" sz="1200"/>
              <a:t>Because intent lists are shorter than usage lists, read these as changes in priority, not as forecasts of abandonment.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2065128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5127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A0CDF-0FE0-1DE3-5B09-44D4318623B8}"/>
              </a:ext>
            </a:extLst>
          </p:cNvPr>
          <p:cNvSpPr txBox="1"/>
          <p:nvPr/>
        </p:nvSpPr>
        <p:spPr>
          <a:xfrm>
            <a:off x="658368" y="1207008"/>
            <a:ext cx="10881360" cy="77724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en-US" sz="1300" dirty="0"/>
              <a:t>PostgreSQL extends its lead and is the only database in the current top five to grow; Redis jumps from sixth to second while MySQL drops to fourth.</a:t>
            </a:r>
          </a:p>
        </p:txBody>
      </p:sp>
      <p:pic>
        <p:nvPicPr>
          <p:cNvPr id="8" name="Picture 7" descr="r3_db_n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75986"/>
            <a:ext cx="5349240" cy="3460506"/>
          </a:xfrm>
          <a:prstGeom prst="rect">
            <a:avLst/>
          </a:prstGeom>
        </p:spPr>
      </p:pic>
      <p:pic>
        <p:nvPicPr>
          <p:cNvPr id="9" name="Picture 8" descr="r3_db_n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475986"/>
            <a:ext cx="5349240" cy="34605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z="1200"/>
              <a:t>Findings</a:t>
            </a:r>
          </a:p>
          <a:p>
            <a:pPr marL="0" indent="0">
              <a:buNone/>
            </a:pPr>
            <a:r>
              <a:rPr lang="en-US" dirty="0" sz="1200"/>
              <a:t/>
            </a:r>
          </a:p>
          <a:p>
            <a:pPr marL="0" indent="0">
              <a:buNone/>
            </a:pPr>
            <a:r>
              <a:rPr lang="en-US" dirty="0" sz="1200"/>
              <a:t>PostgreSQL leads both years and grows in absolute terms — 11,514 current users versus 12,193 intending to use it next year (+2.0 pp share).</a:t>
            </a:r>
          </a:p>
          <a:p>
            <a:pPr marL="0" indent="0">
              <a:buNone/>
            </a:pPr>
            <a:r>
              <a:rPr lang="en-US" dirty="0" sz="1200"/>
              <a:t>MySQL is the largest loser at -2.9 pp, falling from second place to fourth.</a:t>
            </a:r>
          </a:p>
          <a:p>
            <a:pPr marL="0" indent="0">
              <a:buNone/>
            </a:pPr>
            <a:r>
              <a:rPr lang="en-US" dirty="0" sz="1200"/>
              <a:t>Redis gains +1.3 pp and moves from sixth to second — caching and in-memory workloads are becoming default.</a:t>
            </a:r>
          </a:p>
          <a:p>
            <a:pPr marL="0" indent="0">
              <a:buNone/>
            </a:pPr>
            <a:r>
              <a:rPr lang="en-US" dirty="0" sz="1200"/>
              <a:t>Supabase enters the top ten (+0.8 pp) with no comparable current-usage footprint.</a:t>
            </a:r>
          </a:p>
          <a:p>
            <a:pPr marL="0" indent="0">
              <a:buNone/>
            </a:pPr>
            <a:r>
              <a:rPr lang="en-US" dirty="0" sz="1200"/>
              <a:t>Commercial engines decline: Microsoft SQL Server -1.8 pp and Oracle -1.1 pp.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z="1200"/>
              <a:t>Implications</a:t>
            </a:r>
          </a:p>
          <a:p>
            <a:pPr marL="0" indent="0">
              <a:buNone/>
            </a:pPr>
            <a:r>
              <a:rPr lang="en-US" dirty="0" sz="1200"/>
              <a:t/>
            </a:r>
          </a:p>
          <a:p>
            <a:pPr marL="0" indent="0">
              <a:buNone/>
            </a:pPr>
            <a:r>
              <a:rPr lang="en-US" dirty="0" sz="1200"/>
              <a:t>Standardise new services on PostgreSQL — it is the only clear consolidation point, which lowers both hiring and operating risk.</a:t>
            </a:r>
          </a:p>
          <a:p>
            <a:pPr marL="0" indent="0">
              <a:buNone/>
            </a:pPr>
            <a:r>
              <a:rPr lang="en-US" dirty="0" sz="1200"/>
              <a:t>Budget for Redis as core infrastructure rather than an optimisation, and hire for cache-aware design.</a:t>
            </a:r>
          </a:p>
          <a:p>
            <a:pPr marL="0" indent="0">
              <a:buNone/>
            </a:pPr>
            <a:r>
              <a:rPr lang="en-US" dirty="0" sz="1200"/>
              <a:t>Plan MySQL, SQL Server and Oracle estates for migration or long-term maintenance; the skills pool is drifting away from them.</a:t>
            </a:r>
          </a:p>
          <a:p>
            <a:pPr marL="0" indent="0">
              <a:buNone/>
            </a:pPr>
            <a:r>
              <a:rPr lang="en-US" dirty="0" sz="1200"/>
              <a:t>Watch Supabase and BigQuery as managed-service entrants: developer interest arrives before enterprise adoption.</a:t>
            </a:r>
          </a:p>
          <a:p>
            <a:pPr marL="0" indent="0">
              <a:buNone/>
            </a:pPr>
            <a:r>
              <a:rPr lang="en-US" dirty="0" sz="1200"/>
              <a:t>Interest is not deployment — validate these signals against your own workload, licensing and data-residency constraints before committing.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572000" y="1828800"/>
            <a:ext cx="685800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400" dirty="0"/>
              <a:t>Three tabs built on the survey extract</a:t>
            </a:r>
          </a:p>
          <a:p>
            <a:pPr marL="0" indent="0">
              <a:buFont typeface="Arial"/>
              <a:buNone/>
            </a:pPr>
            <a:r>
              <a:rPr lang="en-US" sz="1400" dirty="0"/>
              <a:t>Tab 1 — Current technology usage: top 10 languages, databases, platforms and web frameworks.</a:t>
            </a:r>
          </a:p>
          <a:p>
            <a:pPr marL="0" indent="0">
              <a:buFont typeface="Arial"/>
              <a:buNone/>
            </a:pPr>
            <a:r>
              <a:rPr lang="en-US" sz="1400" dirty="0"/>
              <a:t>Tab 2 — Future technology trends: the same four dimensions for next year.</a:t>
            </a:r>
          </a:p>
          <a:p>
            <a:pPr marL="0" indent="0">
              <a:buFont typeface="Arial"/>
              <a:buNone/>
            </a:pPr>
            <a:r>
              <a:rPr lang="en-US" sz="1400" dirty="0"/>
              <a:t>Tab 3 — Demographics: respondents by country, age group and education level.</a:t>
            </a:r>
          </a:p>
          <a:p>
            <a:pPr marL="0" indent="0">
              <a:buFont typeface="Arial"/>
              <a:buNone/>
            </a:pPr>
            <a:r>
              <a:rPr lang="en-US" sz="1400" dirty="0"/>
              <a:t>Source: one extract of 18,845 survey responses, with each multi-select field normalised to one row per selection.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74320"/>
            <a:ext cx="11064240" cy="786384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1: Current Technology Usage</a:t>
            </a:r>
          </a:p>
        </p:txBody>
      </p:sp>
      <p:pic>
        <p:nvPicPr>
          <p:cNvPr id="3" name="Picture 2" descr="d1_current_u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816" y="1133856"/>
            <a:ext cx="8721606" cy="38221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010912"/>
            <a:ext cx="1106424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200" b="0">
                <a:solidFill>
                  <a:srgbClr val="262626"/>
                </a:solidFill>
              </a:rPr>
              <a:t>Dashboard insight — the working stack is web-first and cloud-centred</a:t>
            </a:r>
          </a:p>
          <a:p>
            <a:pPr lvl="1"/>
            <a:r>
              <a:rPr sz="1100" b="0">
                <a:solidFill>
                  <a:srgbClr val="525252"/>
                </a:solidFill>
              </a:rPr>
              <a:t>•  JavaScript (14,943), SQL (12,602) and HTML/CSS (12,410) are used by the largest share of respondents; TypeScript is already fourth.</a:t>
            </a:r>
          </a:p>
          <a:p>
            <a:pPr lvl="1"/>
            <a:r>
              <a:rPr sz="1100" b="0">
                <a:solidFill>
                  <a:srgbClr val="525252"/>
                </a:solidFill>
              </a:rPr>
              <a:t>•  PostgreSQL (11,514) is the most-used database, ahead of MySQL (8,556); SQLite third place reflects embedded and local development.</a:t>
            </a:r>
          </a:p>
          <a:p>
            <a:pPr lvl="1"/>
            <a:r>
              <a:rPr sz="1100" b="0">
                <a:solidFill>
                  <a:srgbClr val="525252"/>
                </a:solidFill>
              </a:rPr>
              <a:t>•  AWS (10,871) is used by more respondents than Azure (6,681) and Google Cloud (5,537) individually, and nearly as many as the two combined.</a:t>
            </a:r>
          </a:p>
          <a:p>
            <a:pPr lvl="1"/>
            <a:r>
              <a:rPr sz="1100" b="0">
                <a:solidFill>
                  <a:srgbClr val="525252"/>
                </a:solidFill>
              </a:rPr>
              <a:t>•  Node.js (9,230) and React (8,999) dominate frameworks, but jQuery is still third (4,810) — a large legacy estate is still in production.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74320"/>
            <a:ext cx="11064240" cy="786384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2: Future Technology Trends</a:t>
            </a:r>
          </a:p>
        </p:txBody>
      </p:sp>
      <p:pic>
        <p:nvPicPr>
          <p:cNvPr id="3" name="Picture 2" descr="d2_future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816" y="1133856"/>
            <a:ext cx="8721606" cy="38221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010912"/>
            <a:ext cx="1106424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200" b="0">
                <a:solidFill>
                  <a:srgbClr val="262626"/>
                </a:solidFill>
              </a:rPr>
              <a:t>Dashboard insight — intent shifts toward typed, systems and managed tools</a:t>
            </a:r>
          </a:p>
          <a:p>
            <a:pPr lvl="1"/>
            <a:r>
              <a:rPr sz="1100" b="0">
                <a:solidFill>
                  <a:srgbClr val="525252"/>
                </a:solidFill>
              </a:rPr>
              <a:t>•  The language leaders hold their ranks, but Go (5,661) and Rust (5,597) enter the top ten at sixth and seventh, and TypeScript overtakes HTML/CSS for third.</a:t>
            </a:r>
          </a:p>
          <a:p>
            <a:pPr lvl="1"/>
            <a:r>
              <a:rPr sz="1100" b="0">
                <a:solidFill>
                  <a:srgbClr val="525252"/>
                </a:solidFill>
              </a:rPr>
              <a:t>•  PostgreSQL grows to 12,193 and Redis rises to second (6,384); MySQL falls to fourth.</a:t>
            </a:r>
          </a:p>
          <a:p>
            <a:pPr lvl="1"/>
            <a:r>
              <a:rPr sz="1100" b="0">
                <a:solidFill>
                  <a:srgbClr val="525252"/>
                </a:solidFill>
              </a:rPr>
              <a:t>•  The cloud hierarchy is stable — AWS, Azure, Google Cloud — but Cloudflare gains (3,874 → 4,219) and Heroku drops out of the top ten.</a:t>
            </a:r>
          </a:p>
          <a:p>
            <a:pPr lvl="1"/>
            <a:r>
              <a:rPr sz="1100" b="0">
                <a:solidFill>
                  <a:srgbClr val="525252"/>
                </a:solidFill>
              </a:rPr>
              <a:t>•  React overtakes Node.js in frameworks and Next.js moves to third, while jQuery — currently third by usage — drops out of the desired top ten.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74320"/>
            <a:ext cx="11064240" cy="786384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3: Demographics</a:t>
            </a:r>
          </a:p>
        </p:txBody>
      </p:sp>
      <p:pic>
        <p:nvPicPr>
          <p:cNvPr id="3" name="Picture 2" descr="d3_demograp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113" y="1133856"/>
            <a:ext cx="7459012" cy="38221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010912"/>
            <a:ext cx="1106424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200" b="0">
                <a:solidFill>
                  <a:srgbClr val="262626"/>
                </a:solidFill>
              </a:rPr>
              <a:t>Dashboard insight — a young, formally educated, Western-weighted sample</a:t>
            </a:r>
          </a:p>
          <a:p>
            <a:pPr lvl="1"/>
            <a:r>
              <a:rPr sz="1100" b="0">
                <a:solidFill>
                  <a:srgbClr val="525252"/>
                </a:solidFill>
              </a:rPr>
              <a:t>•  The top five countries supply 42.9% of all responses, led by the United States (3,441); 161 countries appear in total.</a:t>
            </a:r>
          </a:p>
          <a:p>
            <a:pPr lvl="1"/>
            <a:r>
              <a:rPr sz="1100" b="0">
                <a:solidFill>
                  <a:srgbClr val="525252"/>
                </a:solidFill>
              </a:rPr>
              <a:t>•  The 25–34 bracket alone is 41.3% of respondents and 57.9% are under 35 — the sample skews early-career.</a:t>
            </a:r>
          </a:p>
          <a:p>
            <a:pPr lvl="1"/>
            <a:r>
              <a:rPr sz="1100" b="0">
                <a:solidFill>
                  <a:srgbClr val="525252"/>
                </a:solidFill>
              </a:rPr>
              <a:t>•  79.2% hold a tertiary degree, with Bachelor's the single largest group (8,629 respondents).</a:t>
            </a:r>
          </a:p>
          <a:p>
            <a:pPr lvl="1"/>
            <a:r>
              <a:rPr sz="1100" b="0">
                <a:solidFill>
                  <a:srgbClr val="525252"/>
                </a:solidFill>
              </a:rPr>
              <a:t>•  Caveat — this is a self-selected sample of Stack Overflow users, so it over-represents English-speaking, web-focused developers. Every trend above should be read as this population's direction of travel, not the whole industry's.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3640" y="1280160"/>
            <a:ext cx="5349240" cy="4892040"/>
          </a:xfrm>
        </p:spPr>
        <p:txBody>
          <a:bodyPr>
            <a:normAutofit/>
          </a:bodyPr>
          <a:lstStyle/>
          <a:p>
            <a:pPr/>
            <a:r>
              <a:rPr lang="en-US" dirty="0" sz="1200"/>
              <a:t>What the three tabs say together</a:t>
            </a:r>
          </a:p>
          <a:p>
            <a:pPr/>
            <a:r>
              <a:rPr lang="en-US" dirty="0" sz="1200"/>
              <a:t>Continuity, not disruption. The same technologies lead current usage and next-year intent; what changes is the ordering and the size of the gaps.</a:t>
            </a:r>
          </a:p>
          <a:p>
            <a:pPr/>
            <a:r>
              <a:rPr lang="en-US" dirty="0" sz="1200"/>
              <a:t>Almost every incumbent loses share, partly because respondents name fewer technologies they want than they already use. Comparing shares rather than raw counts is what separates a real shift from that arithmetic.</a:t>
            </a:r>
          </a:p>
          <a:p>
            <a:pPr/>
            <a:r>
              <a:rPr lang="en-US" dirty="0" sz="1200"/>
              <a:t>Consolidation is the dominant pattern: PostgreSQL in databases, TypeScript in languages, React/Next.js in frameworks, AWS in platforms.</a:t>
            </a:r>
          </a:p>
          <a:p>
            <a:pPr/>
            <a:r>
              <a:rPr lang="en-US" dirty="0" sz="1200"/>
              <a:t>The market and the developers disagree. Job postings cluster on Java and JavaScript, pay peaks on Swift, and usage peaks on JavaScript — popularity, hiring demand and salary are three different rankings.</a:t>
            </a:r>
          </a:p>
          <a:p>
            <a:pPr/>
            <a:r>
              <a:rPr lang="en-US" dirty="0" sz="1200"/>
              <a:t>Demographics bound every claim: a young, degree-holding, US-and-Europe-weighted, self-selected sample.</a:t>
            </a:r>
          </a:p>
        </p:txBody>
      </p:sp>
      <p:pic>
        <p:nvPicPr>
          <p:cNvPr id="5" name="Picture 4" descr="a11_lang_have_vs_wa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095958"/>
            <a:ext cx="5577839" cy="321472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z="1100"/>
              <a:t>Findings</a:t>
            </a:r>
          </a:p>
          <a:p>
            <a:pPr marL="0" indent="0">
              <a:buNone/>
            </a:pPr>
            <a:r>
              <a:rPr lang="en-US" dirty="0" sz="1100"/>
              <a:t/>
            </a:r>
          </a:p>
          <a:p>
            <a:pPr marL="0" indent="0">
              <a:buNone/>
            </a:pPr>
            <a:r>
              <a:rPr lang="en-US" dirty="0" sz="1100"/>
              <a:t>Job demand is concentrated: 46.8% of 27,005 postings sit in three metro areas.</a:t>
            </a:r>
          </a:p>
          <a:p>
            <a:pPr marL="0" indent="0">
              <a:buNone/>
            </a:pPr>
            <a:r>
              <a:rPr lang="en-US" dirty="0" sz="1100"/>
              <a:t>Hiring demand does not track developer usage: Java (3,428 postings) and JavaScript (2,248) outrank Python (1,173). The C total (25,114) is treated as unreliable — see A3.</a:t>
            </a:r>
          </a:p>
          <a:p>
            <a:pPr marL="0" indent="0">
              <a:buNone/>
            </a:pPr>
            <a:r>
              <a:rPr lang="en-US" dirty="0" sz="1100"/>
              <a:t>Pay is led by Swift ($130,801) — a $46,074 spread over ten languages.</a:t>
            </a:r>
          </a:p>
          <a:p>
            <a:pPr marL="0" indent="0">
              <a:buNone/>
            </a:pPr>
            <a:r>
              <a:rPr lang="en-US" dirty="0" sz="1100"/>
              <a:t>PostgreSQL, TypeScript, Rust, Go and Redis gain share; MySQL, PHP, Java, SQL Server and jQuery lose it.</a:t>
            </a:r>
          </a:p>
          <a:p>
            <a:pPr marL="0" indent="0">
              <a:buNone/>
            </a:pPr>
            <a:r>
              <a:rPr lang="en-US" dirty="0" sz="1100"/>
              <a:t>Location beats experience on pay: median compensation runs $148,000 in the United States against $19,142 in India, while experience correlates only r = 0.242.</a:t>
            </a:r>
          </a:p>
          <a:p>
            <a:pPr marL="0" indent="0">
              <a:buNone/>
            </a:pPr>
            <a:r>
              <a:rPr lang="en-US" dirty="0" sz="1100"/>
              <a:t>Satisfaction is high (71.4% score 7+) and effectively uncorrelated with pay (r = 0.06).</a:t>
            </a:r>
          </a:p>
          <a:p>
            <a:pPr marL="0" indent="0">
              <a:buNone/>
            </a:pPr>
            <a:r>
              <a:rPr lang="en-US" dirty="0" sz="1100"/>
              <a:t>43.4% work fully remotely and 41.5% hybrid — only 15.2% are fully in-person.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z="1100"/>
              <a:t>Implications</a:t>
            </a:r>
          </a:p>
          <a:p>
            <a:pPr marL="0" indent="0">
              <a:buNone/>
            </a:pPr>
            <a:r>
              <a:rPr lang="en-US" dirty="0" sz="1100"/>
              <a:t/>
            </a:r>
          </a:p>
          <a:p>
            <a:pPr marL="0" indent="0">
              <a:buNone/>
            </a:pPr>
            <a:r>
              <a:rPr lang="en-US" dirty="0" sz="1100"/>
              <a:t>Recruit where the postings are, but source talent remotely — 85% of respondents already work remote or hybrid, so the concentration of postings need not constrain the hiring pool.</a:t>
            </a:r>
          </a:p>
          <a:p>
            <a:pPr marL="0" indent="0">
              <a:buNone/>
            </a:pPr>
            <a:r>
              <a:rPr lang="en-US" dirty="0" sz="1100"/>
              <a:t>Separate the three signals when planning: what developers use, what employers post for, and what the market pays are different rankings and should drive different decisions.</a:t>
            </a:r>
          </a:p>
          <a:p>
            <a:pPr marL="0" indent="0">
              <a:buNone/>
            </a:pPr>
            <a:r>
              <a:rPr lang="en-US" dirty="0" sz="1100"/>
              <a:t>Standardise on the consolidation winners (PostgreSQL, TypeScript, React/Next.js, AWS) to reduce long-run hiring risk.</a:t>
            </a:r>
          </a:p>
          <a:p>
            <a:pPr marL="0" indent="0">
              <a:buNone/>
            </a:pPr>
            <a:r>
              <a:rPr lang="en-US" dirty="0" sz="1100"/>
              <a:t>Fund Rust and Go upskilling now, while interest exceeds supply and before salaries reprice.</a:t>
            </a:r>
          </a:p>
          <a:p>
            <a:pPr marL="0" indent="0">
              <a:buNone/>
            </a:pPr>
            <a:r>
              <a:rPr lang="en-US" dirty="0" sz="1100"/>
              <a:t>Do not use pay as a retention lever on its own — the pay/satisfaction correlation is near zero, so flexibility and role design matter more.</a:t>
            </a:r>
          </a:p>
          <a:p>
            <a:pPr marL="0" indent="0">
              <a:buNone/>
            </a:pPr>
            <a:r>
              <a:rPr lang="en-US" dirty="0" sz="1100"/>
              <a:t>Set compensation bands by market geography rather than by seniority alone.</a:t>
            </a:r>
          </a:p>
          <a:p>
            <a:pPr marL="0" indent="0">
              <a:buNone/>
            </a:pPr>
            <a:r>
              <a:rPr lang="en-US" dirty="0" sz="1100"/>
              <a:t>Re-run this analysis each survey cycle: a single year shows a gap, a sequence of years shows a trend.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709160" y="1417320"/>
            <a:ext cx="6858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sz="1200"/>
              <a:t>The developer technology landscape is consolidating, not fragmenting. The leaders of today are the leaders of next year; the movement is in how much share each holds.</a:t>
            </a:r>
          </a:p>
          <a:p>
            <a:pPr/>
            <a:r>
              <a:rPr lang="en-US" sz="1200"/>
              <a:t>Three independent rankings drive different decisions. Usage (survey), hiring demand (job postings) and pay (salary data) disagree — planning on any one of them alone is a mistake.</a:t>
            </a:r>
          </a:p>
          <a:p>
            <a:pPr/>
            <a:r>
              <a:rPr lang="en-US" sz="1200"/>
              <a:t>The current-versus-desired gap is the most actionable output. Rust, Go, TypeScript, PostgreSQL and Redis gain share; PHP, Java, MySQL and legacy commercial engines lose it. That gap is the training and hiring agenda.</a:t>
            </a:r>
          </a:p>
          <a:p>
            <a:pPr/>
            <a:r>
              <a:rPr lang="en-US" sz="1200"/>
              <a:t>Geography, not seniority, is the largest measurable driver of pay in this dataset, and pay is a weak lever on satisfaction.</a:t>
            </a:r>
          </a:p>
          <a:p>
            <a:pPr/>
            <a:r>
              <a:rPr lang="en-US" sz="1200"/>
              <a:t>Limitations — a self-selected sample, roughly half of compensation values missing, one survey year with no time series, and stated intent rather than observed adoption. Conclusions are directional.</a:t>
            </a:r>
          </a:p>
          <a:p>
            <a:pPr/>
            <a:r>
              <a:rPr lang="en-US" sz="1200"/>
              <a:t>Next steps — repeat across survey years to convert gaps into trends, join to a larger postings dataset for demand validation, and segment by role and region before acting.</a:t>
            </a:r>
          </a:p>
        </p:txBody>
      </p:sp>
      <p:pic>
        <p:nvPicPr>
          <p:cNvPr id="13" name="Picture 12" descr="a5_comp_by_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316030"/>
            <a:ext cx="3977639" cy="24088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685800" y="1463040"/>
            <a:ext cx="1088136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sz="1400"/>
              <a:t>Additional charts and tables produced during the analysis phase</a:t>
            </a:r>
          </a:p>
          <a:p>
            <a:pPr/>
            <a:r>
              <a:rPr lang="en-US" sz="1400"/>
              <a:t>A1 — Net mind-share shift by programming language</a:t>
            </a:r>
          </a:p>
          <a:p>
            <a:pPr/>
            <a:r>
              <a:rPr lang="en-US" sz="1400"/>
              <a:t>A2 — Net mind-share shift by database</a:t>
            </a:r>
          </a:p>
          <a:p>
            <a:pPr/>
            <a:r>
              <a:rPr lang="en-US" sz="1400"/>
              <a:t>A3 — Job postings by required technology</a:t>
            </a:r>
          </a:p>
          <a:p>
            <a:pPr/>
            <a:r>
              <a:rPr lang="en-US" sz="1400"/>
              <a:t>A4 — Compensation distribution, raw and log-transformed</a:t>
            </a:r>
          </a:p>
          <a:p>
            <a:pPr/>
            <a:r>
              <a:rPr lang="en-US" sz="1400"/>
              <a:t>A5 — Compensation by country</a:t>
            </a:r>
          </a:p>
          <a:p>
            <a:pPr/>
            <a:r>
              <a:rPr lang="en-US" sz="1400"/>
              <a:t>A6 — Correlation matrix of pay, experience and satisfaction</a:t>
            </a:r>
          </a:p>
          <a:p>
            <a:pPr/>
            <a:r>
              <a:rPr lang="en-US" sz="1400"/>
              <a:t>A7 — Job satisfaction distribution</a:t>
            </a:r>
          </a:p>
          <a:p>
            <a:pPr/>
            <a:r>
              <a:rPr lang="en-US" sz="1400"/>
              <a:t>A8 — Language adoption by country</a:t>
            </a:r>
          </a:p>
          <a:p>
            <a:pPr/>
            <a:r>
              <a:rPr lang="en-US" sz="1400"/>
              <a:t>A9 — Work arrangement and desired databases</a:t>
            </a:r>
          </a:p>
          <a:p>
            <a:pPr/>
            <a:r>
              <a:rPr lang="en-US" sz="1400"/>
              <a:t>A10 — Dataset and methodology reference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62626"/>
                </a:solidFill>
              </a:rPr>
              <a:t>METHODOLOGY — DATA QUALITY &amp; TREATMENT</a:t>
            </a:r>
          </a:p>
        </p:txBody>
      </p:sp>
      <p:pic>
        <p:nvPicPr>
          <p:cNvPr id="3" name="Picture 2" descr="a10_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989591"/>
            <a:ext cx="6035040" cy="30616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0840" y="1051560"/>
            <a:ext cx="493776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300" b="1">
                <a:solidFill>
                  <a:srgbClr val="262626"/>
                </a:solidFill>
              </a:rPr>
              <a:t>What the profiling found:</a:t>
            </a:r>
          </a:p>
          <a:p>
            <a:pPr lvl="1"/>
            <a:r>
              <a:rPr sz="1200" b="0">
                <a:solidFill>
                  <a:srgbClr val="525252"/>
                </a:solidFill>
              </a:rPr>
              <a:t>•  No duplicate rows and no duplicate ResponseIds remain after the de-duplication step, so the row count is trustworthy.</a:t>
            </a:r>
          </a:p>
          <a:p>
            <a:pPr lvl="1"/>
            <a:r>
              <a:rPr sz="1200" b="0">
                <a:solidFill>
                  <a:srgbClr val="525252"/>
                </a:solidFill>
              </a:rPr>
              <a:t>•  ConvertedCompYearly is missing for 49.3% of rows — the single biggest constraint on any pay analysis.</a:t>
            </a:r>
          </a:p>
          <a:p>
            <a:pPr lvl="1"/>
            <a:r>
              <a:rPr sz="1200" b="0">
                <a:solidFill>
                  <a:srgbClr val="525252"/>
                </a:solidFill>
              </a:rPr>
              <a:t>•  JobSat (35.7%) and WorkExp (34.9%) are also heavily incomplete.</a:t>
            </a:r>
          </a:p>
          <a:p>
            <a:pPr/>
            <a:r>
              <a:rPr sz="1300" b="1">
                <a:solidFill>
                  <a:srgbClr val="262626"/>
                </a:solidFill>
              </a:rPr>
              <a:t>How it was handled:</a:t>
            </a:r>
          </a:p>
          <a:p>
            <a:pPr lvl="1"/>
            <a:r>
              <a:rPr sz="1200" b="0">
                <a:solidFill>
                  <a:srgbClr val="525252"/>
                </a:solidFill>
              </a:rPr>
              <a:t>•  Compensation was left unimputed for distribution and correlation work and reported on its valid subset (9,550 responses) — imputing half a column with its own median would manufacture a false peak.</a:t>
            </a:r>
          </a:p>
          <a:p>
            <a:pPr lvl="1"/>
            <a:r>
              <a:rPr sz="1200" b="0">
                <a:solidFill>
                  <a:srgbClr val="525252"/>
                </a:solidFill>
              </a:rPr>
              <a:t>•  Outliers were bounded with the 1.5 × IQR rule; 346 values (3.6%) fall above $226,667 and are excluded from pay comparisons, not deleted from the dataset.</a:t>
            </a:r>
          </a:p>
          <a:p>
            <a:pPr/>
            <a:r>
              <a:rPr sz="1300" b="0">
                <a:solidFill>
                  <a:srgbClr val="262626"/>
                </a:solidFill>
              </a:rPr>
              <a:t>Every count on the following slides therefore states its own denominator.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62626"/>
                </a:solidFill>
              </a:rPr>
              <a:t>A1 — NET MIND-SHARE SHIFT BY PROGRAMMING LANGUAGE</a:t>
            </a:r>
          </a:p>
        </p:txBody>
      </p:sp>
      <p:pic>
        <p:nvPicPr>
          <p:cNvPr id="3" name="Picture 2" descr="r4_lang_net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062" y="1051560"/>
            <a:ext cx="7663394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5349240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i="1" b="0">
                <a:solidFill>
                  <a:srgbClr val="525252"/>
                </a:solidFill>
              </a:rPr>
              <a:t>Each side is expressed as a share of all selections made on its own question, because respondents name 6.19 languages they have used but only 5.64 they want. Subtracting raw counts would push every language negative; comparing shares isolates the genuine change in priority.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62626"/>
                </a:solidFill>
              </a:rPr>
              <a:t>A2 — NET MIND-SHARE SHIFT BY DATABASE</a:t>
            </a:r>
          </a:p>
        </p:txBody>
      </p:sp>
      <p:pic>
        <p:nvPicPr>
          <p:cNvPr id="3" name="Picture 2" descr="r4_db_net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532" y="1051560"/>
            <a:ext cx="8042454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5349240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i="1" b="0">
                <a:solidFill>
                  <a:srgbClr val="525252"/>
                </a:solidFill>
              </a:rPr>
              <a:t>Same share-based normalisation as A1 (3.69 databases used vs 3.5 wanted per respondent). PostgreSQL and Redis are the only large gainers; MySQL, SQL Server, MariaDB and Oracle all decline.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62626"/>
                </a:solidFill>
              </a:rPr>
              <a:t>A3 — JOB POSTINGS BY REQUIRED TECHNOLOGY</a:t>
            </a:r>
          </a:p>
        </p:txBody>
      </p:sp>
      <p:pic>
        <p:nvPicPr>
          <p:cNvPr id="3" name="Picture 2" descr="a1_job_postings_by_sk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024" y="1051560"/>
            <a:ext cx="7193471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5349240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i="1" b="0">
                <a:solidFill>
                  <a:srgbClr val="525252"/>
                </a:solidFill>
              </a:rPr>
              <a:t>C dominates at 25,114 postings, far ahead of Java (3,428) and JavaScript (2,248). The 'C' count is almost certainly inflated by substring matching on job text, which is why hiring-demand conclusions in this report lean on the per-location data rather than this breakdown.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62626"/>
                </a:solidFill>
              </a:rPr>
              <a:t>A4 — COMPENSATION DISTRIBUTION</a:t>
            </a:r>
          </a:p>
        </p:txBody>
      </p:sp>
      <p:pic>
        <p:nvPicPr>
          <p:cNvPr id="3" name="Picture 2" descr="a2_comp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101727"/>
            <a:ext cx="10241280" cy="4060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5349240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i="1" b="0">
                <a:solidFill>
                  <a:srgbClr val="525252"/>
                </a:solidFill>
              </a:rPr>
              <a:t>Median $65,857 against a mean of $84,589 on 9,550 valid responses — a strong right skew. The log1p transform on the right makes the distribution usable for correlation work; the left panel is clipped at the 99th percentile for readability.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62626"/>
                </a:solidFill>
              </a:rPr>
              <a:t>A5 — COMPENSATION BY COUNTRY</a:t>
            </a:r>
          </a:p>
        </p:txBody>
      </p:sp>
      <p:pic>
        <p:nvPicPr>
          <p:cNvPr id="3" name="Picture 2" descr="a3_comp_by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857" y="1051560"/>
            <a:ext cx="7847805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5349240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i="1" b="0">
                <a:solidFill>
                  <a:srgbClr val="525252"/>
                </a:solidFill>
              </a:rPr>
              <a:t>Median pay ranges from $148,000 in the United States to $19,142 in India — a 7.7× spread that dwarfs the effect of experience. Outliers are hidden and the axis is capped at the 98.5th percentile.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62626"/>
                </a:solidFill>
              </a:rPr>
              <a:t>A6 — CORRELATION MATRIX</a:t>
            </a:r>
          </a:p>
        </p:txBody>
      </p:sp>
      <p:pic>
        <p:nvPicPr>
          <p:cNvPr id="3" name="Picture 2" descr="a4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038" y="1051560"/>
            <a:ext cx="4373443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5349240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i="1" b="0">
                <a:solidFill>
                  <a:srgbClr val="525252"/>
                </a:solidFill>
              </a:rPr>
              <a:t>On 6,843 complete cases: compensation correlates weakly with work experience (r = 0.242) and professional coding years (r = 0.245); job satisfaction is essentially independent of both pay (r = 0.06) and experience (r = 0.107). Listwise deletion means this subset over-represents respondents who answered the pay question.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62626"/>
                </a:solidFill>
              </a:rPr>
              <a:t>A7 — JOB SATISFACTION DISTRIBUTION</a:t>
            </a:r>
          </a:p>
        </p:txBody>
      </p:sp>
      <p:pic>
        <p:nvPicPr>
          <p:cNvPr id="3" name="Picture 2" descr="a9_jobs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567" y="1051560"/>
            <a:ext cx="6544385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5349240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i="1" b="0">
                <a:solidFill>
                  <a:srgbClr val="525252"/>
                </a:solidFill>
              </a:rPr>
              <a:t>12,111 respondents answered (35.7% did not). The distribution is left-skewed toward high scores: median 8, mean 7.15, and 71.4% scoring 7 or above. The non-response rate is high enough that this should be read as the view of respondents who chose to answer.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62626"/>
                </a:solidFill>
              </a:rPr>
              <a:t>A8 — LANGUAGE ADOPTION BY COUNTRY</a:t>
            </a:r>
          </a:p>
        </p:txBody>
      </p:sp>
      <p:pic>
        <p:nvPicPr>
          <p:cNvPr id="3" name="Picture 2" descr="a8_language_by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476" y="1051560"/>
            <a:ext cx="6056566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5349240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i="1" b="0">
                <a:solidFill>
                  <a:srgbClr val="525252"/>
                </a:solidFill>
              </a:rPr>
              <a:t>Each cell is the percentage of that country's respondents who report using the language, so rows are comparable despite very different sample sizes. The top ten languages are near-universal across all ten countries — regional variation is much smaller than the overall usage differences between languages.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62626"/>
                </a:solidFill>
              </a:rPr>
              <a:t>A9 — WORK ARRANGEMENT AND DESIRED DATABASES</a:t>
            </a:r>
          </a:p>
        </p:txBody>
      </p:sp>
      <p:pic>
        <p:nvPicPr>
          <p:cNvPr id="3" name="Picture 2" descr="a6_remote_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0420"/>
            <a:ext cx="5486400" cy="2917079"/>
          </a:xfrm>
          <a:prstGeom prst="rect">
            <a:avLst/>
          </a:prstGeom>
        </p:spPr>
      </p:pic>
      <p:pic>
        <p:nvPicPr>
          <p:cNvPr id="4" name="Picture 3" descr="a7_db_desired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761" y="1188720"/>
            <a:ext cx="5343276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2120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i="1" b="0">
                <a:solidFill>
                  <a:srgbClr val="525252"/>
                </a:solidFill>
              </a:rPr>
              <a:t>Left: only 15.2% of respondents work fully in-person; 43.4% are fully remote and 41.5% hybrid, which is why the geographic concentration of job postings need not constrain the hiring pool. Right: composition of the top five databases respondents want next year — PostgreSQL alone is roughly as large as the next two combined.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62626"/>
                </a:solidFill>
              </a:rPr>
              <a:t>A10 — DATASET AND METHODOLOGY REFERENCE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368" y="1097280"/>
          <a:ext cx="10881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809244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Primary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5252"/>
                          </a:solidFill>
                        </a:rPr>
                        <a:t>Stack Overflow Developer Survey extract — 18,845 rows × 114 columns, 161 countries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Secondary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5252"/>
                          </a:solidFill>
                        </a:rPr>
                        <a:t>Jobs API postings (27,005 across 13 metros; plus a per-technology breakdown) and web-scraped salaries for 10 languages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Multi-select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5252"/>
                          </a:solidFill>
                        </a:rPr>
                        <a:t>LanguageHaveWorkedWith / WantToWorkWith, Database…, Platform…, Webframe… — split on ';' and exploded to one row per selection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Selections per respondent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5252"/>
                          </a:solidFill>
                        </a:rPr>
                        <a:t>Languages 6.19 used vs 5.64 wanted; databases 3.69 vs 3.5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Compensation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5252"/>
                          </a:solidFill>
                        </a:rPr>
                        <a:t>9,550 valid values (49.3% missing); median $65,857, mean $84,589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Outlier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5252"/>
                          </a:solidFill>
                        </a:rPr>
                        <a:t>1.5 × IQR; upper bound $226,667, 346 values (3.6%) excluded from pay comparisons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Duplicates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5252"/>
                          </a:solidFill>
                        </a:rPr>
                        <a:t>0 duplicate rows, 0 duplicate ResponseIds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5252"/>
                          </a:solidFill>
                        </a:rPr>
                        <a:t>Python (pandas, NumPy), SQLite/SQL, Matplotlib, Seaborn, BeautifulSoup, Google Looker Studio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Chart colour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5252"/>
                          </a:solidFill>
                        </a:rPr>
                        <a:t>Palette validated for colour-vision deficiency: purple = current year, orange = next year, teal = demographics, red = negative change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Key caveat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5252"/>
                          </a:solidFill>
                        </a:rPr>
                        <a:t>Self-selected sample; stated intent, not observed adoption; a single survey year with no time series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432</Words>
  <Application>Microsoft Office PowerPoint</Application>
  <PresentationFormat>Widescreen</PresentationFormat>
  <Paragraphs>117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Title</vt:lpstr>
      <vt:lpstr>PowerPoint Presentation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1: Current Technology Usage</vt:lpstr>
      <vt:lpstr>DASHBOARD TAB 2: Future Technology Trends</vt:lpstr>
      <vt:lpstr>DASHBOARD TAB 3: Demographics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pratiksha verma</cp:lastModifiedBy>
  <cp:revision>5</cp:revision>
  <dcterms:created xsi:type="dcterms:W3CDTF">2024-10-30T05:40:03Z</dcterms:created>
  <dcterms:modified xsi:type="dcterms:W3CDTF">2026-01-15T06:53:23Z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